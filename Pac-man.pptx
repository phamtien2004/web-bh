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a" ContentType="audio/x-ms-wma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embedTrueTypeFonts="1" saveSubsetFonts="1">
  <p:sldMasterIdLst>
    <p:sldMasterId id="2147483660" r:id="rId1"/>
  </p:sldMasterIdLst>
  <p:sldIdLst>
    <p:sldId id="269" r:id="rId2"/>
    <p:sldId id="270" r:id="rId3"/>
    <p:sldId id="259" r:id="rId4"/>
    <p:sldId id="268" r:id="rId5"/>
    <p:sldId id="267" r:id="rId6"/>
    <p:sldId id="266" r:id="rId7"/>
    <p:sldId id="264" r:id="rId8"/>
    <p:sldId id="263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0570C49-4CA7-440F-A3A9-6BCBE29D0674}">
          <p14:sldIdLst>
            <p14:sldId id="269"/>
            <p14:sldId id="270"/>
            <p14:sldId id="259"/>
            <p14:sldId id="268"/>
            <p14:sldId id="267"/>
            <p14:sldId id="266"/>
            <p14:sldId id="264"/>
            <p14:sldId id="263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931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69BD6-D417-490F-AE32-FCAA5D07260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B511D-E391-42B1-91B0-1F13D2CEF5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732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69BD6-D417-490F-AE32-FCAA5D07260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B511D-E391-42B1-91B0-1F13D2CEF5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271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69BD6-D417-490F-AE32-FCAA5D07260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B511D-E391-42B1-91B0-1F13D2CEF5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838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69BD6-D417-490F-AE32-FCAA5D07260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B511D-E391-42B1-91B0-1F13D2CEF5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137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69BD6-D417-490F-AE32-FCAA5D07260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B511D-E391-42B1-91B0-1F13D2CEF5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37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69BD6-D417-490F-AE32-FCAA5D07260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B511D-E391-42B1-91B0-1F13D2CEF5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751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69BD6-D417-490F-AE32-FCAA5D07260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B511D-E391-42B1-91B0-1F13D2CEF5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791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69BD6-D417-490F-AE32-FCAA5D07260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B511D-E391-42B1-91B0-1F13D2CEF5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013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69BD6-D417-490F-AE32-FCAA5D07260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B511D-E391-42B1-91B0-1F13D2CEF5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60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69BD6-D417-490F-AE32-FCAA5D07260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B511D-E391-42B1-91B0-1F13D2CEF5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481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69BD6-D417-490F-AE32-FCAA5D07260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B511D-E391-42B1-91B0-1F13D2CEF5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107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A69BD6-D417-490F-AE32-FCAA5D07260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B511D-E391-42B1-91B0-1F13D2CEF5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468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wma"/><Relationship Id="rId1" Type="http://schemas.microsoft.com/office/2007/relationships/media" Target="../media/media1.wma"/><Relationship Id="rId6" Type="http://schemas.openxmlformats.org/officeDocument/2006/relationships/image" Target="../media/image2.png"/><Relationship Id="rId5" Type="http://schemas.openxmlformats.org/officeDocument/2006/relationships/slide" Target="slide2.xml"/><Relationship Id="rId4" Type="http://schemas.openxmlformats.org/officeDocument/2006/relationships/image" Target="../media/image1.gi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79393" y="2078755"/>
            <a:ext cx="3853106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0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Pac-man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327151" y="2345859"/>
            <a:ext cx="905341" cy="905341"/>
          </a:xfrm>
          <a:prstGeom prst="rect">
            <a:avLst/>
          </a:prstGeom>
        </p:spPr>
      </p:pic>
      <p:sp>
        <p:nvSpPr>
          <p:cNvPr id="6" name="Pentagon 5">
            <a:hlinkClick r:id="rId5" action="ppaction://hlinksldjump"/>
          </p:cNvPr>
          <p:cNvSpPr/>
          <p:nvPr/>
        </p:nvSpPr>
        <p:spPr>
          <a:xfrm>
            <a:off x="3485353" y="3439184"/>
            <a:ext cx="2173299" cy="734379"/>
          </a:xfrm>
          <a:prstGeom prst="homePlat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4800"/>
              <a:t>PLAY</a:t>
            </a:r>
          </a:p>
        </p:txBody>
      </p:sp>
      <p:pic>
        <p:nvPicPr>
          <p:cNvPr id="8" name="Mr_Tea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534400" y="-6096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523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1.85185E-6 L 0.78924 0.00463 " pathEditMode="relative" rAng="0" ptsTypes="AA">
                                      <p:cBhvr>
                                        <p:cTn id="6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462" y="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000"/>
                            </p:stCondLst>
                            <p:childTnLst>
                              <p:par>
                                <p:cTn id="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250"/>
                            </p:stCondLst>
                            <p:childTnLst>
                              <p:par>
                                <p:cTn id="1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750"/>
                            </p:stCondLst>
                            <p:childTnLst>
                              <p:par>
                                <p:cTn id="18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1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1" dur="100077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6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12E48-5907-1762-7B5A-B9B3691554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2533650"/>
            <a:ext cx="6975987" cy="1790700"/>
          </a:xfrm>
        </p:spPr>
        <p:txBody>
          <a:bodyPr>
            <a:noAutofit/>
          </a:bodyPr>
          <a:lstStyle/>
          <a:p>
            <a:r>
              <a:rPr lang="en-US" sz="3600"/>
              <a:t>Đề tài: Code game Pac-man và thuật toán Motion blur ứng dụng vào game</a:t>
            </a:r>
            <a:br>
              <a:rPr lang="en-US" sz="3600" dirty="0"/>
            </a:br>
            <a:r>
              <a:rPr lang="en-US" sz="3600" dirty="0" err="1"/>
              <a:t>Giáo</a:t>
            </a:r>
            <a:r>
              <a:rPr lang="en-US" sz="3600" dirty="0"/>
              <a:t> </a:t>
            </a:r>
            <a:r>
              <a:rPr lang="en-US" sz="3600" dirty="0" err="1"/>
              <a:t>viên</a:t>
            </a:r>
            <a:r>
              <a:rPr lang="en-US" sz="3600" dirty="0"/>
              <a:t> </a:t>
            </a:r>
            <a:r>
              <a:rPr lang="en-US" sz="3600" dirty="0" err="1"/>
              <a:t>hướng</a:t>
            </a:r>
            <a:r>
              <a:rPr lang="en-US" sz="3600" dirty="0"/>
              <a:t> </a:t>
            </a:r>
            <a:r>
              <a:rPr lang="en-US" sz="3600" dirty="0" err="1"/>
              <a:t>dẫn</a:t>
            </a:r>
            <a:r>
              <a:rPr lang="en-US" sz="3600" dirty="0"/>
              <a:t>: Dương Chí Thiện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6A795-5A96-95BA-7604-E111B8F8B7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546920"/>
            <a:ext cx="6975987" cy="904452"/>
          </a:xfrm>
        </p:spPr>
        <p:txBody>
          <a:bodyPr/>
          <a:lstStyle/>
          <a:p>
            <a:r>
              <a:rPr lang="en-US" dirty="0" err="1"/>
              <a:t>Nhóm</a:t>
            </a:r>
            <a:r>
              <a:rPr lang="en-US" dirty="0"/>
              <a:t> : Phạm Đức Tiến – 2221050292</a:t>
            </a:r>
          </a:p>
          <a:p>
            <a:r>
              <a:rPr lang="en-US" dirty="0"/>
              <a:t>Đặng Phương Nam </a:t>
            </a:r>
            <a:r>
              <a:rPr lang="en-US"/>
              <a:t>- 2121051385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5479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nip Diagonal Corner Rectangle 3"/>
          <p:cNvSpPr/>
          <p:nvPr/>
        </p:nvSpPr>
        <p:spPr>
          <a:xfrm>
            <a:off x="231648" y="207264"/>
            <a:ext cx="8619744" cy="1950720"/>
          </a:xfrm>
          <a:prstGeom prst="snip2Diag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3200" dirty="0">
                <a:solidFill>
                  <a:schemeClr val="tx1"/>
                </a:solidFill>
              </a:rPr>
              <a:t>1. </a:t>
            </a:r>
            <a:r>
              <a:rPr lang="en-US" sz="3200" dirty="0" err="1">
                <a:solidFill>
                  <a:schemeClr val="tx1"/>
                </a:solidFill>
              </a:rPr>
              <a:t>Nội</a:t>
            </a:r>
            <a:r>
              <a:rPr lang="en-US" sz="3200" dirty="0">
                <a:solidFill>
                  <a:schemeClr val="tx1"/>
                </a:solidFill>
              </a:rPr>
              <a:t> dung </a:t>
            </a:r>
            <a:r>
              <a:rPr lang="en-US" sz="3200" dirty="0" err="1">
                <a:solidFill>
                  <a:schemeClr val="tx1"/>
                </a:solidFill>
              </a:rPr>
              <a:t>bài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thuyết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trình</a:t>
            </a: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nip Diagonal Corner Rectangle 4"/>
          <p:cNvSpPr/>
          <p:nvPr/>
        </p:nvSpPr>
        <p:spPr>
          <a:xfrm>
            <a:off x="396239" y="2334767"/>
            <a:ext cx="8352906" cy="2517788"/>
          </a:xfrm>
          <a:prstGeom prst="snip2DiagRect">
            <a:avLst/>
          </a:prstGeom>
          <a:solidFill>
            <a:srgbClr val="002060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/>
              <a:t>Game Pac-man</a:t>
            </a:r>
          </a:p>
          <a:p>
            <a:r>
              <a:rPr lang="en-US" sz="2400" dirty="0" err="1"/>
              <a:t>Thuật</a:t>
            </a:r>
            <a:r>
              <a:rPr lang="en-US" sz="2400" dirty="0"/>
              <a:t> </a:t>
            </a:r>
            <a:r>
              <a:rPr lang="en-US" sz="2400" dirty="0" err="1"/>
              <a:t>toán</a:t>
            </a:r>
            <a:r>
              <a:rPr lang="en-US" sz="2400" dirty="0"/>
              <a:t> </a:t>
            </a:r>
            <a:r>
              <a:rPr lang="en-US" sz="2400" dirty="0" err="1"/>
              <a:t>làm</a:t>
            </a:r>
            <a:r>
              <a:rPr lang="en-US" sz="2400" dirty="0"/>
              <a:t> </a:t>
            </a:r>
            <a:r>
              <a:rPr lang="en-US" sz="2400" dirty="0" err="1"/>
              <a:t>mờ</a:t>
            </a:r>
            <a:r>
              <a:rPr lang="en-US" sz="2400" dirty="0"/>
              <a:t> </a:t>
            </a:r>
            <a:r>
              <a:rPr lang="en-US" sz="2400" dirty="0" err="1"/>
              <a:t>ảnh</a:t>
            </a:r>
            <a:r>
              <a:rPr lang="en-US" sz="2400" dirty="0"/>
              <a:t> Motion blur</a:t>
            </a:r>
          </a:p>
          <a:p>
            <a:r>
              <a:rPr lang="en-US" sz="2400" dirty="0" err="1"/>
              <a:t>Mối</a:t>
            </a:r>
            <a:r>
              <a:rPr lang="en-US" sz="2400" dirty="0"/>
              <a:t> </a:t>
            </a:r>
            <a:r>
              <a:rPr lang="en-US" sz="2400" dirty="0" err="1"/>
              <a:t>liên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r>
              <a:rPr lang="en-US" sz="2400" dirty="0"/>
              <a:t> </a:t>
            </a:r>
            <a:r>
              <a:rPr lang="en-US" sz="2400" dirty="0" err="1"/>
              <a:t>giữa</a:t>
            </a:r>
            <a:r>
              <a:rPr lang="en-US" sz="2400" dirty="0"/>
              <a:t> game Pac-man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thuật</a:t>
            </a:r>
            <a:r>
              <a:rPr lang="en-US" sz="2400" dirty="0"/>
              <a:t> </a:t>
            </a:r>
            <a:r>
              <a:rPr lang="en-US" sz="2400" dirty="0" err="1"/>
              <a:t>toán</a:t>
            </a:r>
            <a:r>
              <a:rPr lang="en-US" sz="2400" dirty="0"/>
              <a:t> </a:t>
            </a:r>
            <a:r>
              <a:rPr lang="en-US" sz="2400" dirty="0" err="1"/>
              <a:t>làm</a:t>
            </a:r>
            <a:r>
              <a:rPr lang="en-US" sz="2400" dirty="0"/>
              <a:t> </a:t>
            </a:r>
            <a:r>
              <a:rPr lang="en-US" sz="2400" dirty="0" err="1"/>
              <a:t>mờ</a:t>
            </a:r>
            <a:r>
              <a:rPr lang="en-US" sz="2400" dirty="0"/>
              <a:t> </a:t>
            </a:r>
            <a:r>
              <a:rPr lang="en-US" sz="2400" dirty="0" err="1"/>
              <a:t>ảnh</a:t>
            </a:r>
            <a:r>
              <a:rPr lang="en-US" sz="2400" dirty="0"/>
              <a:t> Motion blur</a:t>
            </a:r>
          </a:p>
          <a:p>
            <a:pPr lvl="0" algn="ctr"/>
            <a:endParaRPr lang="en-US" sz="24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Pentagon 5">
            <a:hlinkClick r:id="rId2" action="ppaction://hlinksldjump"/>
          </p:cNvPr>
          <p:cNvSpPr/>
          <p:nvPr/>
        </p:nvSpPr>
        <p:spPr>
          <a:xfrm flipH="1">
            <a:off x="6851904" y="5961888"/>
            <a:ext cx="1999488" cy="755904"/>
          </a:xfrm>
          <a:prstGeom prst="homePlate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618969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entagon 5">
            <a:hlinkClick r:id="rId2" action="ppaction://hlinksldjump"/>
          </p:cNvPr>
          <p:cNvSpPr/>
          <p:nvPr/>
        </p:nvSpPr>
        <p:spPr>
          <a:xfrm flipH="1">
            <a:off x="6851904" y="5961888"/>
            <a:ext cx="1999488" cy="755904"/>
          </a:xfrm>
          <a:prstGeom prst="homePlate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Snip Diagonal Corner Rectangle 6"/>
          <p:cNvSpPr/>
          <p:nvPr/>
        </p:nvSpPr>
        <p:spPr>
          <a:xfrm>
            <a:off x="231648" y="207264"/>
            <a:ext cx="8619744" cy="1950720"/>
          </a:xfrm>
          <a:prstGeom prst="snip2Diag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3200" dirty="0">
                <a:solidFill>
                  <a:schemeClr val="tx1"/>
                </a:solidFill>
              </a:rPr>
              <a:t>2. Game Pac-Man</a:t>
            </a: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nip Diagonal Corner Rectangle 7"/>
          <p:cNvSpPr/>
          <p:nvPr/>
        </p:nvSpPr>
        <p:spPr>
          <a:xfrm>
            <a:off x="396240" y="2334768"/>
            <a:ext cx="8455152" cy="2278796"/>
          </a:xfrm>
          <a:prstGeom prst="snip2DiagRect">
            <a:avLst/>
          </a:prstGeom>
          <a:solidFill>
            <a:srgbClr val="002060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  <a:defRPr sz="2000"/>
            </a:pPr>
            <a:r>
              <a:rPr lang="vi-VN" dirty="0">
                <a:solidFill>
                  <a:schemeClr val="bg1"/>
                </a:solidFill>
              </a:rPr>
              <a:t>Mê cung (</a:t>
            </a:r>
            <a:r>
              <a:rPr lang="vi-VN" dirty="0" err="1">
                <a:solidFill>
                  <a:schemeClr val="bg1"/>
                </a:solidFill>
              </a:rPr>
              <a:t>maze</a:t>
            </a:r>
            <a:r>
              <a:rPr lang="vi-VN" dirty="0">
                <a:solidFill>
                  <a:schemeClr val="bg1"/>
                </a:solidFill>
              </a:rPr>
              <a:t>, </a:t>
            </a:r>
            <a:r>
              <a:rPr lang="vi-VN" dirty="0" err="1">
                <a:solidFill>
                  <a:schemeClr val="bg1"/>
                </a:solidFill>
              </a:rPr>
              <a:t>tilemap</a:t>
            </a:r>
            <a:r>
              <a:rPr lang="vi-VN" dirty="0">
                <a:solidFill>
                  <a:schemeClr val="bg1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  <a:defRPr sz="2000"/>
            </a:pPr>
            <a:r>
              <a:rPr lang="vi-VN" dirty="0">
                <a:solidFill>
                  <a:schemeClr val="bg1"/>
                </a:solidFill>
              </a:rPr>
              <a:t>Nhân vật </a:t>
            </a:r>
            <a:r>
              <a:rPr lang="vi-VN" dirty="0" err="1">
                <a:solidFill>
                  <a:schemeClr val="bg1"/>
                </a:solidFill>
              </a:rPr>
              <a:t>Pac</a:t>
            </a:r>
            <a:r>
              <a:rPr lang="vi-VN" dirty="0">
                <a:solidFill>
                  <a:schemeClr val="bg1"/>
                </a:solidFill>
              </a:rPr>
              <a:t>-Man</a:t>
            </a:r>
          </a:p>
          <a:p>
            <a:pPr marL="285750" indent="-285750">
              <a:buFont typeface="Arial" panose="020B0604020202020204" pitchFamily="34" charset="0"/>
              <a:buChar char="•"/>
              <a:defRPr sz="2000"/>
            </a:pPr>
            <a:r>
              <a:rPr lang="vi-VN" dirty="0">
                <a:solidFill>
                  <a:schemeClr val="bg1"/>
                </a:solidFill>
              </a:rPr>
              <a:t>4 con ma (</a:t>
            </a:r>
            <a:r>
              <a:rPr lang="vi-VN" dirty="0" err="1">
                <a:solidFill>
                  <a:schemeClr val="bg1"/>
                </a:solidFill>
              </a:rPr>
              <a:t>Blinky</a:t>
            </a:r>
            <a:r>
              <a:rPr lang="vi-VN" dirty="0">
                <a:solidFill>
                  <a:schemeClr val="bg1"/>
                </a:solidFill>
              </a:rPr>
              <a:t>, </a:t>
            </a:r>
            <a:r>
              <a:rPr lang="vi-VN" dirty="0" err="1">
                <a:solidFill>
                  <a:schemeClr val="bg1"/>
                </a:solidFill>
              </a:rPr>
              <a:t>Pinky</a:t>
            </a:r>
            <a:r>
              <a:rPr lang="vi-VN" dirty="0">
                <a:solidFill>
                  <a:schemeClr val="bg1"/>
                </a:solidFill>
              </a:rPr>
              <a:t>, </a:t>
            </a:r>
            <a:r>
              <a:rPr lang="vi-VN" dirty="0" err="1">
                <a:solidFill>
                  <a:schemeClr val="bg1"/>
                </a:solidFill>
              </a:rPr>
              <a:t>Inky</a:t>
            </a:r>
            <a:r>
              <a:rPr lang="vi-VN" dirty="0">
                <a:solidFill>
                  <a:schemeClr val="bg1"/>
                </a:solidFill>
              </a:rPr>
              <a:t>, </a:t>
            </a:r>
            <a:r>
              <a:rPr lang="vi-VN" dirty="0" err="1">
                <a:solidFill>
                  <a:schemeClr val="bg1"/>
                </a:solidFill>
              </a:rPr>
              <a:t>Clyde</a:t>
            </a:r>
            <a:r>
              <a:rPr lang="vi-VN" dirty="0">
                <a:solidFill>
                  <a:schemeClr val="bg1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  <a:defRPr sz="2000"/>
            </a:pPr>
            <a:r>
              <a:rPr lang="vi-VN" dirty="0">
                <a:solidFill>
                  <a:schemeClr val="bg1"/>
                </a:solidFill>
              </a:rPr>
              <a:t>Vật phẩm: </a:t>
            </a:r>
            <a:r>
              <a:rPr lang="vi-VN" dirty="0" err="1">
                <a:solidFill>
                  <a:schemeClr val="bg1"/>
                </a:solidFill>
              </a:rPr>
              <a:t>pellet</a:t>
            </a:r>
            <a:r>
              <a:rPr lang="vi-VN" dirty="0">
                <a:solidFill>
                  <a:schemeClr val="bg1"/>
                </a:solidFill>
              </a:rPr>
              <a:t>, </a:t>
            </a:r>
            <a:r>
              <a:rPr lang="vi-VN" dirty="0" err="1">
                <a:solidFill>
                  <a:schemeClr val="bg1"/>
                </a:solidFill>
              </a:rPr>
              <a:t>power</a:t>
            </a:r>
            <a:r>
              <a:rPr lang="vi-VN" dirty="0">
                <a:solidFill>
                  <a:schemeClr val="bg1"/>
                </a:solidFill>
              </a:rPr>
              <a:t> </a:t>
            </a:r>
            <a:r>
              <a:rPr lang="vi-VN" dirty="0" err="1">
                <a:solidFill>
                  <a:schemeClr val="bg1"/>
                </a:solidFill>
              </a:rPr>
              <a:t>pellet</a:t>
            </a:r>
            <a:endParaRPr lang="vi-VN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2000"/>
            </a:pPr>
            <a:r>
              <a:rPr lang="vi-VN" dirty="0">
                <a:solidFill>
                  <a:schemeClr val="bg1"/>
                </a:solidFill>
              </a:rPr>
              <a:t>Luật chơi: di chuyển, va chạm, tính điểm, thắng/thua</a:t>
            </a:r>
          </a:p>
          <a:p>
            <a:pPr marL="285750" indent="-285750">
              <a:buFont typeface="Arial" panose="020B0604020202020204" pitchFamily="34" charset="0"/>
              <a:buChar char="•"/>
              <a:defRPr sz="2000"/>
            </a:pPr>
            <a:r>
              <a:rPr lang="vi-VN" dirty="0">
                <a:solidFill>
                  <a:schemeClr val="bg1"/>
                </a:solidFill>
              </a:rPr>
              <a:t>Giao diện: điểm số, số mạng</a:t>
            </a:r>
          </a:p>
        </p:txBody>
      </p:sp>
    </p:spTree>
    <p:extLst>
      <p:ext uri="{BB962C8B-B14F-4D97-AF65-F5344CB8AC3E}">
        <p14:creationId xmlns:p14="http://schemas.microsoft.com/office/powerpoint/2010/main" val="139602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nip Diagonal Corner Rectangle 6"/>
          <p:cNvSpPr/>
          <p:nvPr/>
        </p:nvSpPr>
        <p:spPr>
          <a:xfrm>
            <a:off x="231648" y="207264"/>
            <a:ext cx="8619744" cy="1950720"/>
          </a:xfrm>
          <a:prstGeom prst="snip2Diag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vi-V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3.Hình ảnh nhân vật trong </a:t>
            </a:r>
            <a:r>
              <a:rPr lang="vi-VN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game</a:t>
            </a:r>
            <a:r>
              <a:rPr lang="vi-V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nip Diagonal Corner Rectangle 7"/>
          <p:cNvSpPr/>
          <p:nvPr/>
        </p:nvSpPr>
        <p:spPr>
          <a:xfrm>
            <a:off x="271548" y="2313985"/>
            <a:ext cx="8539943" cy="4055642"/>
          </a:xfrm>
          <a:prstGeom prst="snip2DiagRect">
            <a:avLst/>
          </a:prstGeom>
          <a:solidFill>
            <a:srgbClr val="002060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EF35AE1-960E-5E88-1FA0-F462A50EBE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6378" y="2559628"/>
            <a:ext cx="2438400" cy="304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F1A7AE-5722-36C5-2E79-FEEF4C3DA5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109" y="3158490"/>
            <a:ext cx="2438400" cy="304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884D17C-05EB-20D8-D0F9-9264A0652C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6378" y="3158490"/>
            <a:ext cx="2438400" cy="304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F8BB81E-7ABB-829C-D7B3-C6C2C349E7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1018" y="2935569"/>
            <a:ext cx="609600" cy="304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2424776-9293-43A9-7487-B26E7E9415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1177" y="2578816"/>
            <a:ext cx="1219200" cy="304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DC783F4-D6DF-6E62-342F-503BEEEB754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109" y="3652231"/>
            <a:ext cx="4876800" cy="3048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B688EC7-20D2-E67B-1B94-0525497A8D0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361" y="3577021"/>
            <a:ext cx="2438400" cy="269965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5F3BD59-C049-EB3B-B0C2-91ABCE0ACD1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109" y="2559628"/>
            <a:ext cx="24384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905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nip Diagonal Corner Rectangle 6"/>
          <p:cNvSpPr/>
          <p:nvPr/>
        </p:nvSpPr>
        <p:spPr>
          <a:xfrm>
            <a:off x="231648" y="207264"/>
            <a:ext cx="8619744" cy="1950720"/>
          </a:xfrm>
          <a:prstGeom prst="snip2Diag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3200" dirty="0">
                <a:solidFill>
                  <a:schemeClr val="tx1"/>
                </a:solidFill>
              </a:rPr>
              <a:t>4. </a:t>
            </a:r>
            <a:r>
              <a:rPr lang="en-US" sz="3200" dirty="0" err="1">
                <a:solidFill>
                  <a:schemeClr val="tx1"/>
                </a:solidFill>
              </a:rPr>
              <a:t>Thuật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toán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làm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mờ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ảnh</a:t>
            </a:r>
            <a:r>
              <a:rPr lang="en-US" sz="3200" dirty="0">
                <a:solidFill>
                  <a:schemeClr val="tx1"/>
                </a:solidFill>
              </a:rPr>
              <a:t> Motion Blur</a:t>
            </a: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nip Diagonal Corner Rectangle 7"/>
          <p:cNvSpPr/>
          <p:nvPr/>
        </p:nvSpPr>
        <p:spPr>
          <a:xfrm>
            <a:off x="396240" y="2428148"/>
            <a:ext cx="8290560" cy="3858214"/>
          </a:xfrm>
          <a:prstGeom prst="snip2DiagRect">
            <a:avLst/>
          </a:prstGeom>
          <a:solidFill>
            <a:srgbClr val="002060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Là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hiệu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ứng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làm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nhòe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chuyển</a:t>
            </a:r>
            <a:r>
              <a:rPr lang="en-US" sz="2000" dirty="0">
                <a:solidFill>
                  <a:schemeClr val="bg1"/>
                </a:solidFill>
              </a:rPr>
              <a:t> động </a:t>
            </a:r>
          </a:p>
          <a:p>
            <a:r>
              <a:rPr lang="en-US" sz="2000" dirty="0" err="1">
                <a:solidFill>
                  <a:schemeClr val="bg1"/>
                </a:solidFill>
              </a:rPr>
              <a:t>khi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vật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thể</a:t>
            </a:r>
            <a:r>
              <a:rPr lang="en-US" sz="2000" dirty="0">
                <a:solidFill>
                  <a:schemeClr val="bg1"/>
                </a:solidFill>
              </a:rPr>
              <a:t> di </a:t>
            </a:r>
            <a:r>
              <a:rPr lang="en-US" sz="2000" dirty="0" err="1">
                <a:solidFill>
                  <a:schemeClr val="bg1"/>
                </a:solidFill>
              </a:rPr>
              <a:t>chuyển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nhanh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 err="1">
                <a:solidFill>
                  <a:schemeClr val="bg1"/>
                </a:solidFill>
              </a:rPr>
              <a:t>hường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thấy</a:t>
            </a:r>
            <a:r>
              <a:rPr lang="en-US" sz="2000" dirty="0">
                <a:solidFill>
                  <a:schemeClr val="bg1"/>
                </a:solidFill>
              </a:rPr>
              <a:t> ở </a:t>
            </a:r>
            <a:r>
              <a:rPr lang="en-US" sz="2000" dirty="0" err="1">
                <a:solidFill>
                  <a:schemeClr val="bg1"/>
                </a:solidFill>
              </a:rPr>
              <a:t>trong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phim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ảnh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và</a:t>
            </a:r>
            <a:r>
              <a:rPr lang="en-US" sz="2000" dirty="0">
                <a:solidFill>
                  <a:schemeClr val="bg1"/>
                </a:solidFill>
              </a:rPr>
              <a:t> game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Mục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tiêu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là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tạo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cảm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giác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mượt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mà</a:t>
            </a:r>
            <a:r>
              <a:rPr lang="en-US" sz="2000" dirty="0">
                <a:solidFill>
                  <a:schemeClr val="bg1"/>
                </a:solidFill>
              </a:rPr>
              <a:t>,</a:t>
            </a:r>
          </a:p>
          <a:p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chân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thực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hơn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cho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chuyển</a:t>
            </a:r>
            <a:r>
              <a:rPr lang="en-US" sz="2000" dirty="0">
                <a:solidFill>
                  <a:schemeClr val="bg1"/>
                </a:solidFill>
              </a:rPr>
              <a:t> động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96B349-7D40-EB24-6528-2C6945BE712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8418" y="3082635"/>
            <a:ext cx="3470564" cy="2313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120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entagon 5">
            <a:hlinkClick r:id="rId2" action="ppaction://hlinksldjump"/>
          </p:cNvPr>
          <p:cNvSpPr/>
          <p:nvPr/>
        </p:nvSpPr>
        <p:spPr>
          <a:xfrm flipH="1">
            <a:off x="6851904" y="5961888"/>
            <a:ext cx="1999488" cy="755904"/>
          </a:xfrm>
          <a:prstGeom prst="homePlate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Snip Diagonal Corner Rectangle 6"/>
          <p:cNvSpPr/>
          <p:nvPr/>
        </p:nvSpPr>
        <p:spPr>
          <a:xfrm>
            <a:off x="231648" y="207264"/>
            <a:ext cx="8619744" cy="1950720"/>
          </a:xfrm>
          <a:prstGeom prst="snip2Diag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3200" dirty="0">
                <a:solidFill>
                  <a:schemeClr val="tx1"/>
                </a:solidFill>
              </a:rPr>
              <a:t>4. </a:t>
            </a:r>
            <a:r>
              <a:rPr lang="en-US" sz="3200" dirty="0" err="1">
                <a:solidFill>
                  <a:schemeClr val="tx1"/>
                </a:solidFill>
              </a:rPr>
              <a:t>Thuật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toán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làm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mờ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ảnh</a:t>
            </a:r>
            <a:r>
              <a:rPr lang="en-US" sz="3200" dirty="0">
                <a:solidFill>
                  <a:schemeClr val="tx1"/>
                </a:solidFill>
              </a:rPr>
              <a:t> Motion Blur</a:t>
            </a: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nip Diagonal Corner Rectangle 7"/>
          <p:cNvSpPr/>
          <p:nvPr/>
        </p:nvSpPr>
        <p:spPr>
          <a:xfrm>
            <a:off x="396240" y="2334768"/>
            <a:ext cx="8455152" cy="3494532"/>
          </a:xfrm>
          <a:prstGeom prst="snip2DiagRect">
            <a:avLst/>
          </a:prstGeom>
          <a:solidFill>
            <a:srgbClr val="002060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sz="2000" dirty="0"/>
              <a:t>Có 2 loại chính: </a:t>
            </a:r>
          </a:p>
          <a:p>
            <a:pPr marL="914400" lvl="1" indent="-457200">
              <a:buFont typeface="+mj-lt"/>
              <a:buAutoNum type="alphaLcPeriod"/>
            </a:pPr>
            <a:r>
              <a:rPr lang="vi-VN" sz="2000" dirty="0" err="1"/>
              <a:t>Motion</a:t>
            </a:r>
            <a:r>
              <a:rPr lang="vi-VN" sz="2000" dirty="0"/>
              <a:t> </a:t>
            </a:r>
            <a:r>
              <a:rPr lang="vi-VN" sz="2000" dirty="0" err="1"/>
              <a:t>Blur</a:t>
            </a:r>
            <a:r>
              <a:rPr lang="vi-VN" sz="2000" dirty="0"/>
              <a:t> theo </a:t>
            </a:r>
            <a:r>
              <a:rPr lang="vi-VN" sz="2000" dirty="0" err="1"/>
              <a:t>camera</a:t>
            </a:r>
            <a:r>
              <a:rPr lang="vi-VN" sz="2000" dirty="0"/>
              <a:t> (</a:t>
            </a:r>
            <a:r>
              <a:rPr lang="vi-VN" sz="2000" dirty="0" err="1"/>
              <a:t>Camera</a:t>
            </a:r>
            <a:r>
              <a:rPr lang="vi-VN" sz="2000" dirty="0"/>
              <a:t> </a:t>
            </a:r>
            <a:r>
              <a:rPr lang="vi-VN" sz="2000" dirty="0" err="1"/>
              <a:t>Motion</a:t>
            </a:r>
            <a:r>
              <a:rPr lang="vi-VN" sz="2000" dirty="0"/>
              <a:t> </a:t>
            </a:r>
            <a:r>
              <a:rPr lang="vi-VN" sz="2000" dirty="0" err="1"/>
              <a:t>Blur</a:t>
            </a:r>
            <a:r>
              <a:rPr lang="vi-VN" sz="2000" dirty="0"/>
              <a:t>) Làm mờ toàn bộ khung hình khi </a:t>
            </a:r>
            <a:r>
              <a:rPr lang="vi-VN" sz="2000" dirty="0" err="1"/>
              <a:t>camera</a:t>
            </a:r>
            <a:r>
              <a:rPr lang="vi-VN" sz="2000" dirty="0"/>
              <a:t> xoay hoặc di chuyển. Dựa trên tốc độ chuyển động của </a:t>
            </a:r>
            <a:r>
              <a:rPr lang="vi-VN" sz="2000" dirty="0" err="1"/>
              <a:t>camera</a:t>
            </a:r>
            <a:r>
              <a:rPr lang="vi-VN" sz="2000" dirty="0"/>
              <a:t> trong mỗi </a:t>
            </a:r>
            <a:r>
              <a:rPr lang="vi-VN" sz="2000" dirty="0" err="1"/>
              <a:t>frame</a:t>
            </a:r>
            <a:r>
              <a:rPr lang="vi-VN" sz="2000" dirty="0"/>
              <a:t>. </a:t>
            </a:r>
          </a:p>
          <a:p>
            <a:pPr marL="914400" lvl="1" indent="-457200">
              <a:buFont typeface="+mj-lt"/>
              <a:buAutoNum type="alphaLcPeriod"/>
            </a:pPr>
            <a:r>
              <a:rPr lang="vi-VN" sz="2000" dirty="0" err="1"/>
              <a:t>Object</a:t>
            </a:r>
            <a:r>
              <a:rPr lang="vi-VN" sz="2000" dirty="0"/>
              <a:t> </a:t>
            </a:r>
            <a:r>
              <a:rPr lang="vi-VN" sz="2000" dirty="0" err="1"/>
              <a:t>Motion</a:t>
            </a:r>
            <a:r>
              <a:rPr lang="vi-VN" sz="2000" dirty="0"/>
              <a:t> </a:t>
            </a:r>
            <a:r>
              <a:rPr lang="vi-VN" sz="2000" dirty="0" err="1"/>
              <a:t>Blur</a:t>
            </a:r>
            <a:r>
              <a:rPr lang="vi-VN" sz="2000" dirty="0"/>
              <a:t> Làm mờ từng vật thể đang di chuyển. Sử dụng </a:t>
            </a:r>
            <a:r>
              <a:rPr lang="vi-VN" sz="2000" dirty="0" err="1"/>
              <a:t>vector</a:t>
            </a:r>
            <a:r>
              <a:rPr lang="vi-VN" sz="2000" dirty="0"/>
              <a:t> chuyển động (</a:t>
            </a:r>
            <a:r>
              <a:rPr lang="vi-VN" sz="2000" dirty="0" err="1"/>
              <a:t>motion</a:t>
            </a:r>
            <a:r>
              <a:rPr lang="vi-VN" sz="2000" dirty="0"/>
              <a:t> </a:t>
            </a:r>
            <a:r>
              <a:rPr lang="vi-VN" sz="2000" dirty="0" err="1"/>
              <a:t>vector</a:t>
            </a:r>
            <a:r>
              <a:rPr lang="vi-VN" sz="2000" dirty="0"/>
              <a:t>) để quyết định hướng và độ dài của độ mờ.</a:t>
            </a:r>
          </a:p>
          <a:p>
            <a:pPr lvl="0" algn="ctr"/>
            <a:endParaRPr lang="en-US" sz="4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3751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nip Diagonal Corner Rectangle 6"/>
          <p:cNvSpPr/>
          <p:nvPr/>
        </p:nvSpPr>
        <p:spPr>
          <a:xfrm>
            <a:off x="231648" y="207264"/>
            <a:ext cx="8619744" cy="1505712"/>
          </a:xfrm>
          <a:prstGeom prst="snip2Diag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3200" dirty="0">
                <a:solidFill>
                  <a:schemeClr val="tx1"/>
                </a:solidFill>
              </a:rPr>
              <a:t>4. </a:t>
            </a:r>
            <a:r>
              <a:rPr lang="en-US" sz="3200" dirty="0" err="1">
                <a:solidFill>
                  <a:schemeClr val="tx1"/>
                </a:solidFill>
              </a:rPr>
              <a:t>Thuật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toán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làm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mờ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ảnh</a:t>
            </a:r>
            <a:r>
              <a:rPr lang="en-US" sz="3200" dirty="0">
                <a:solidFill>
                  <a:schemeClr val="tx1"/>
                </a:solidFill>
              </a:rPr>
              <a:t> Motion Blur</a:t>
            </a: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nip Diagonal Corner Rectangle 7"/>
          <p:cNvSpPr/>
          <p:nvPr/>
        </p:nvSpPr>
        <p:spPr>
          <a:xfrm>
            <a:off x="687185" y="2109354"/>
            <a:ext cx="7625542" cy="4270664"/>
          </a:xfrm>
          <a:prstGeom prst="snip2DiagRect">
            <a:avLst/>
          </a:prstGeom>
          <a:solidFill>
            <a:srgbClr val="002060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/>
              <a:t>Motion blur </a:t>
            </a:r>
            <a:r>
              <a:rPr lang="en-US" sz="2000" dirty="0" err="1"/>
              <a:t>trong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engine game:</a:t>
            </a:r>
            <a:endParaRPr lang="vi-VN" sz="2000" dirty="0"/>
          </a:p>
          <a:p>
            <a:pPr lvl="1"/>
            <a:r>
              <a:rPr lang="vi-VN" dirty="0" err="1"/>
              <a:t>Unity</a:t>
            </a:r>
            <a:r>
              <a:rPr lang="vi-VN" dirty="0"/>
              <a:t>/</a:t>
            </a:r>
            <a:r>
              <a:rPr lang="vi-VN" dirty="0" err="1"/>
              <a:t>Unreal</a:t>
            </a:r>
            <a:r>
              <a:rPr lang="vi-VN" dirty="0"/>
              <a:t> dùng </a:t>
            </a:r>
            <a:r>
              <a:rPr lang="vi-VN" dirty="0" err="1"/>
              <a:t>Motion</a:t>
            </a:r>
            <a:r>
              <a:rPr lang="vi-VN" dirty="0"/>
              <a:t> </a:t>
            </a:r>
            <a:r>
              <a:rPr lang="vi-VN" dirty="0" err="1"/>
              <a:t>Vector</a:t>
            </a:r>
            <a:r>
              <a:rPr lang="vi-VN" dirty="0"/>
              <a:t> +</a:t>
            </a:r>
            <a:r>
              <a:rPr lang="vi-VN" dirty="0" err="1"/>
              <a:t>Post-processing</a:t>
            </a:r>
            <a:r>
              <a:rPr lang="vi-VN" dirty="0"/>
              <a:t>.</a:t>
            </a:r>
          </a:p>
          <a:p>
            <a:pPr lvl="1"/>
            <a:r>
              <a:rPr lang="vi-VN" dirty="0"/>
              <a:t>Hiệu ứng tính trên GPU → hiệu năng cao.</a:t>
            </a:r>
          </a:p>
          <a:p>
            <a:pPr lvl="1"/>
            <a:r>
              <a:rPr lang="vi-VN" dirty="0"/>
              <a:t>Các </a:t>
            </a:r>
            <a:r>
              <a:rPr lang="vi-VN" dirty="0" err="1"/>
              <a:t>game</a:t>
            </a:r>
            <a:r>
              <a:rPr lang="vi-VN" dirty="0"/>
              <a:t> tốc độ như đua xe, bắn súng,</a:t>
            </a:r>
          </a:p>
          <a:p>
            <a:r>
              <a:rPr lang="vi-VN" dirty="0"/>
              <a:t> thể thao đều áp dụng.</a:t>
            </a:r>
            <a:endParaRPr lang="en-US" dirty="0"/>
          </a:p>
          <a:p>
            <a:pPr lvl="0" algn="ctr"/>
            <a:endParaRPr lang="en-US" sz="4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C1BFAB-DDEF-8993-CCF0-8420B892B0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9036" y="4313526"/>
            <a:ext cx="3470561" cy="1952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257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nip Diagonal Corner Rectangle 6"/>
          <p:cNvSpPr/>
          <p:nvPr/>
        </p:nvSpPr>
        <p:spPr>
          <a:xfrm>
            <a:off x="231648" y="207264"/>
            <a:ext cx="8619744" cy="1528018"/>
          </a:xfrm>
          <a:prstGeom prst="snip2Diag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</a:p>
        </p:txBody>
      </p:sp>
      <p:sp>
        <p:nvSpPr>
          <p:cNvPr id="8" name="Snip Diagonal Corner Rectangle 7"/>
          <p:cNvSpPr/>
          <p:nvPr/>
        </p:nvSpPr>
        <p:spPr>
          <a:xfrm>
            <a:off x="231648" y="1880755"/>
            <a:ext cx="8619744" cy="4603727"/>
          </a:xfrm>
          <a:prstGeom prst="snip2DiagRect">
            <a:avLst/>
          </a:prstGeom>
          <a:solidFill>
            <a:srgbClr val="002060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C4FCA2-71AD-8002-7A28-78A89E886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189" y="1987885"/>
            <a:ext cx="3685309" cy="4389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816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312</Words>
  <Application>Microsoft Office PowerPoint</Application>
  <PresentationFormat>On-screen Show (4:3)</PresentationFormat>
  <Paragraphs>34</Paragraphs>
  <Slides>9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Calibri Light</vt:lpstr>
      <vt:lpstr>Times New Roman</vt:lpstr>
      <vt:lpstr>Calibri</vt:lpstr>
      <vt:lpstr>Arial</vt:lpstr>
      <vt:lpstr>Office Theme</vt:lpstr>
      <vt:lpstr>PowerPoint Presentation</vt:lpstr>
      <vt:lpstr>Đề tài: Code game Pac-man và thuật toán Motion blur ứng dụng vào game Giáo viên hướng dẫn: Dương Chí Thiện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thuvienhoclieu.com</dc:title>
  <dc:creator/>
  <cp:keywords>thuvienhoclieu.com</cp:keywords>
  <dc:description>thuvienhoclieu.com</dc:description>
  <cp:lastModifiedBy/>
  <cp:revision>1</cp:revision>
  <dcterms:created xsi:type="dcterms:W3CDTF">2021-08-13T05:11:10Z</dcterms:created>
  <dcterms:modified xsi:type="dcterms:W3CDTF">2025-12-05T09:02:52Z</dcterms:modified>
</cp:coreProperties>
</file>